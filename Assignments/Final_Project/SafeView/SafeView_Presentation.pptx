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64" d="100"/>
          <a:sy n="164" d="100"/>
        </p:scale>
        <p:origin x="-114" y="3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FE196-3736-443E-B9A4-E7B88550C11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746E26-4550-4E39-8B3E-CF48F8E5E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00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1645920" cy="164592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2A0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🛡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468880" y="5486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SafeView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468880" y="1417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Image Content Moderation Tool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468880" y="2103120"/>
            <a:ext cx="64008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2286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 264 — Cloud Machine Learning  |  Winter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Members: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32004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Jaykumar Patel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35204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Ryan Frederick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384048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Nihethan Mahendran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0" y="32004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Izzet Mohamed Abidi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0" y="35204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Semaj Primm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38404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9509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133502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automated image moderation matters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4206240" cy="804672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74520"/>
            <a:ext cx="38404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74520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19110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229514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SafeView — what it does and how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20624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34640"/>
            <a:ext cx="38404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34640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28712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5526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services and architecture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94760"/>
            <a:ext cx="4206240" cy="804672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794760"/>
            <a:ext cx="38404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794760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" y="38313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" y="421538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and interaction diagrams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914400"/>
            <a:ext cx="420624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914400"/>
            <a:ext cx="38404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914400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13248" y="9509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Walkthrough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13248" y="133502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backend modules and design decisions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1874520"/>
            <a:ext cx="4206240" cy="804672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1874520"/>
            <a:ext cx="38404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1874520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13248" y="19110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13248" y="229514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walkthrough of SafeView in action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2834640"/>
            <a:ext cx="420624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37760" y="2834640"/>
            <a:ext cx="38404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834640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13248" y="28712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Literature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13248" y="325526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survey and academic backing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37760" y="3794760"/>
            <a:ext cx="4206240" cy="804672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937760" y="3794760"/>
            <a:ext cx="38404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3794760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413248" y="38313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 and Conclusion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13248" y="421538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560320" cy="1645920"/>
          </a:xfrm>
          <a:prstGeom prst="rect">
            <a:avLst/>
          </a:prstGeom>
          <a:solidFill>
            <a:srgbClr val="E8F4F8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uploaded daily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major platforms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822960"/>
            <a:ext cx="2560320" cy="1645920"/>
          </a:xfrm>
          <a:prstGeom prst="rect">
            <a:avLst/>
          </a:prstGeom>
          <a:solidFill>
            <a:srgbClr val="E8F4F8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868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0" y="166420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review cost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be eliminated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822960"/>
            <a:ext cx="2560320" cy="1645920"/>
          </a:xfrm>
          <a:prstGeom prst="rect">
            <a:avLst/>
          </a:prstGeom>
          <a:solidFill>
            <a:srgbClr val="E8F4F8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868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35040" y="166420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AI services needed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dual-layer protection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6060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Pain Points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971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moderation is slow, inconsistent, and psychologically harmful to human reviewers.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45643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4107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upload volumes have grown beyond the practical capacity of human review teams.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895344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84962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single-service AI approach misses harmful text embedded within otherwise safe-looking images.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33425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2885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teams and startups cannot afford enterprise moderation solutions.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 — SafeView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SafeView is a full-stack serverless web application that automatically screens uploaded images for harmful content and abusive embedded text — returning a structured moderation report within seconds.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14800" cy="3291840"/>
          </a:xfrm>
          <a:prstGeom prst="rect">
            <a:avLst/>
          </a:prstGeom>
          <a:solidFill>
            <a:srgbClr val="E8F4F8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41148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Rekognition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Detects explicit and violent content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8094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Returns confidence-scored labels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7472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Classifies content into categories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96849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DetectModerationLabels + DetectText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508760"/>
            <a:ext cx="4114800" cy="3291840"/>
          </a:xfrm>
          <a:prstGeom prst="rect">
            <a:avLst/>
          </a:prstGeom>
          <a:solidFill>
            <a:srgbClr val="F0F4F8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508760"/>
            <a:ext cx="41148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5087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Layer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2040" y="20848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Comprehend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48716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Analyzes text embedded in images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98094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Positive / Negative / Neutral / Mixed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47472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Catches abusive text in memes/screenshots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96849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Only runs when text is detected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90567" y="1857337"/>
            <a:ext cx="1333743" cy="308683"/>
          </a:xfrm>
          <a:prstGeom prst="rect">
            <a:avLst/>
          </a:prstGeom>
          <a:solidFill>
            <a:srgbClr val="B52A2A"/>
          </a:solidFill>
          <a:ln w="12700">
            <a:solidFill>
              <a:srgbClr val="B5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0" y="1828800"/>
            <a:ext cx="1828800" cy="3843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206240" y="2377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90567" y="2780475"/>
            <a:ext cx="1479348" cy="33693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791556" y="2687753"/>
            <a:ext cx="16948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97480" cy="4023360"/>
          </a:xfrm>
          <a:prstGeom prst="rect">
            <a:avLst/>
          </a:prstGeom>
          <a:solidFill>
            <a:srgbClr val="F0F4F8"/>
          </a:solidFill>
          <a:ln w="254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2697480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Tier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423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/ CSS / JavaScript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2423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84832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Single-file frontend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98064"/>
            <a:ext cx="2423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98064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calls to Chalice 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11296"/>
            <a:ext cx="2423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11296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framework needed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56032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0" y="822960"/>
            <a:ext cx="2697480" cy="4023360"/>
          </a:xfrm>
          <a:prstGeom prst="rect">
            <a:avLst/>
          </a:prstGeom>
          <a:solidFill>
            <a:srgbClr val="F0F4F8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822960"/>
            <a:ext cx="26974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822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Tier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37560" y="1371600"/>
            <a:ext cx="2423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371600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AWS Chalice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2084832"/>
            <a:ext cx="2423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084832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modules: validator, s3_handler,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orchestrator, report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37560" y="2798064"/>
            <a:ext cx="2423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798064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Boto3 SDK for all AWS calls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3511296"/>
            <a:ext cx="2423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511296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 (serverless)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256032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080760" y="822960"/>
            <a:ext cx="2697480" cy="4023360"/>
          </a:xfrm>
          <a:prstGeom prst="rect">
            <a:avLst/>
          </a:prstGeom>
          <a:solidFill>
            <a:srgbClr val="F0F4F8"/>
          </a:solidFill>
          <a:ln w="254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822960"/>
            <a:ext cx="269748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822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Services Tier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17920" y="1371600"/>
            <a:ext cx="2423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1371600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Rekognition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DetectModerationLabels + DetectText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2084832"/>
            <a:ext cx="2423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2084832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Comprehend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DetectSentiment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2798064"/>
            <a:ext cx="2423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2798064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S3 (images + audit logs)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3511296"/>
            <a:ext cx="2423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3511296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IAM (least-privilege)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REST Endpoints: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43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/analyze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1828800" cy="676656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737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Validate image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36829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1828800" cy="676656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560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Upload to S3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319125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1828800" cy="676656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3832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Rekognition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(DetectModerationLabels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DetectText)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691640"/>
            <a:ext cx="1828800" cy="676656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68880" y="1737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Comprehend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(if text found)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77440" y="2514600"/>
            <a:ext cx="1828800" cy="676656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68880" y="2560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Assemble JSON report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143000"/>
            <a:ext cx="411480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1143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/analyze/threshold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1691640"/>
            <a:ext cx="132588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28032" y="1737360"/>
            <a:ext cx="1188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cached labels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new threshold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80760" y="21488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1691640"/>
            <a:ext cx="132588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45352" y="1737360"/>
            <a:ext cx="1188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Re-filter in memory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AWS calls)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0" y="21488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0" y="1691640"/>
            <a:ext cx="132588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662672" y="1737360"/>
            <a:ext cx="1188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updated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+ report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246120"/>
            <a:ext cx="41148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26440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Rekognition / Comprehend / S3 calls — saves cost and time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FFF3CD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5902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All credentials via IAM roles and environment variables. Least-privilege policy. No hardcoded keys.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Walkthrough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Responsibility Principle — each module does exactly one thing: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554480"/>
          </a:xfrm>
          <a:prstGeom prst="rect">
            <a:avLst/>
          </a:prstGeom>
          <a:solidFill>
            <a:srgbClr val="E8F4F8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411480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887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validator.py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11887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Validation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6459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file size (max 5MB), extension (.jpg/.jpeg/.png), and magic bytes to prevent fake file type uploads.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1554480"/>
          </a:xfrm>
          <a:prstGeom prst="rect">
            <a:avLst/>
          </a:prstGeom>
          <a:solidFill>
            <a:srgbClr val="F0F4F8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411480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1887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s3_handler.py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11887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Storage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64608" y="16459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Uploads images under UUID-prefixed keys. Writes JSON audit logs. Never stores PII. All objects set to private.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114800" cy="1554480"/>
          </a:xfrm>
          <a:prstGeom prst="rect">
            <a:avLst/>
          </a:prstGeom>
          <a:solidFill>
            <a:srgbClr val="E8F4F8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26080"/>
            <a:ext cx="411480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9260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orchestrator.py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2926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Orchestration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33832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Rekognition (DetectModerationLabels + DetectText), then Comprehend if text found. Applies confidence threshold filtering.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4114800" cy="1554480"/>
          </a:xfrm>
          <a:prstGeom prst="rect">
            <a:avLst/>
          </a:prstGeom>
          <a:solidFill>
            <a:srgbClr val="F0F4F8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926080"/>
            <a:ext cx="411480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9260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report.py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0" y="2926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Assembly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64608" y="33832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Assembles the final JSON report: session ID, verdict (FLAGGED/SAFE), labels, sentiment, threshold, summary text.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Decisions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1261872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502920" cy="1261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07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DD-02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896112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images in S3 before Rekognition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335024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Decouples upload from analysis. Avoids Lambda payload limit. Enables UC-03 re-analysis without re-uploading.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4114800" cy="12618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12848"/>
            <a:ext cx="502920" cy="1261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968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DD-03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286000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Rekognition for OCR, not Textract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72491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Rekognition's DetectText is sufficient for natural scene images. Avoids adding a third AI service.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02736"/>
            <a:ext cx="4114800" cy="1261872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02736"/>
            <a:ext cx="502920" cy="1261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9867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DD-04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3675888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filtering on the backend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411480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consistent behavior regardless of client. Enforces Separation of Concerns.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822960"/>
            <a:ext cx="4114800" cy="12618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822960"/>
            <a:ext cx="502920" cy="1261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207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DD-05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49240" y="896112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module per AWS service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1335024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Responsibility. Future cloud portability: swap Rekognition for Google Vision in one file only.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212848"/>
            <a:ext cx="4114800" cy="1261872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12848"/>
            <a:ext cx="502920" cy="1261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5968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DD-06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49240" y="2286000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raw confidence scores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272491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platform operators make informed decisions on borderline cases, not just binary verdicts.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602736"/>
            <a:ext cx="4114800" cy="12618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02736"/>
            <a:ext cx="502920" cy="1261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9867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DD-08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49240" y="3675888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Single-file HTML frontend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411480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build toolchain. Can be served directly from Chalice local server. Appropriate for a prototype scope.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Landscape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4023360" cy="475488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AWS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2618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Rekognition + Comprehend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126187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55648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10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37360" y="18105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AI + NLP API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8105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OCR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04288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591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37360" y="23591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Content Safety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235915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Deprecated 2024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52928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077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Clarifai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37360" y="29077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Moderation API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29077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401568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564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37360" y="345643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+ Safety API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34564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only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777240"/>
            <a:ext cx="0" cy="41148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46320" y="1207008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Shariff et al. (2022)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Content Moderation: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Survey of Machine Learning Approaches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 Computing Surveys, 55(3)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233172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supporting SafeView's design: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2743200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2697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CNNs achieve 90%+ accuracy on explicit content detection.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236976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02352" y="319125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thresholding is the industry best practice for avoiding false positives.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3730752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02352" y="36850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analysis (visual + text) is needed for memes and screenshots.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46320" y="4224528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02352" y="41788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automated systems need human review for borderline cases.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SafeView in 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4023360"/>
          </a:xfrm>
          <a:prstGeom prst="rect">
            <a:avLst/>
          </a:prstGeom>
          <a:solidFill>
            <a:srgbClr val="F0F4F8"/>
          </a:solidFill>
          <a:ln w="1905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914400"/>
            <a:ext cx="3200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Uploaded Image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solidFill>
            <a:srgbClr val="DDDDDD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[Image Preview]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2834640"/>
            <a:ext cx="2468880" cy="457200"/>
          </a:xfrm>
          <a:prstGeom prst="rect">
            <a:avLst/>
          </a:prstGeom>
          <a:solidFill>
            <a:srgbClr val="B52A2A"/>
          </a:solidFill>
          <a:ln w="12700">
            <a:solidFill>
              <a:srgbClr val="B5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FLAGGED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40156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applied: 80%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86200" y="914400"/>
            <a:ext cx="4754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969264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MODERATION (Rekognition)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77640" y="1316736"/>
            <a:ext cx="4480560" cy="0"/>
          </a:xfrm>
          <a:prstGeom prst="line">
            <a:avLst/>
          </a:prstGeom>
          <a:noFill/>
          <a:ln w="10160">
            <a:solidFill>
              <a:srgbClr val="D0DD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77640" y="1389888"/>
            <a:ext cx="4480560" cy="402336"/>
          </a:xfrm>
          <a:prstGeom prst="rect">
            <a:avLst/>
          </a:prstGeom>
          <a:solidFill>
            <a:srgbClr val="E8F4F8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14447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Nudity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14447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Nudity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06640" y="144475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94.2%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77640" y="1865376"/>
            <a:ext cx="4480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69080" y="1920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Suggestive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1920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Rude Gestures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06640" y="19202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81.1%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77640" y="243230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SENTIMENT (Comprehend)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977640" y="2743200"/>
            <a:ext cx="4480560" cy="0"/>
          </a:xfrm>
          <a:prstGeom prst="line">
            <a:avLst/>
          </a:prstGeom>
          <a:noFill/>
          <a:ln w="10160">
            <a:solidFill>
              <a:srgbClr val="D0DD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77640" y="279806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text: "You should fear..."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77640" y="31089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Sentiment: NEGATIVE  (Negative: 97.3%  |  Positive: 0.8%)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11887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13716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144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Textract Integration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35024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OCR accuracy for dense document images and screenshots of chat logs.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411480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94560"/>
            <a:ext cx="13716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860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Image Processing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706624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multiple images per request, processed in parallel using Lambda concurrency.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4114800" cy="11887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566160"/>
            <a:ext cx="13716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6576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Frame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4078224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key frames from short video clips and pass them through the existing Rekognition pipeline.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822960"/>
            <a:ext cx="411480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822960"/>
            <a:ext cx="13716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9144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 Workflow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1335024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borderline cases (50 to 80% confidence) to a human moderator queue for review.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194560"/>
            <a:ext cx="4114800" cy="11887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194560"/>
            <a:ext cx="13716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2860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Sentiment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2706624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Comprehend integration to support detected languages beyond English.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411480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566160"/>
            <a:ext cx="13716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6576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Portability Layer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4078224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AWS calls behind a provider-agnostic interface for easy migration to GCP or Azure.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28016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SafeView delivers a working, full-stack serverless image moderation tool using Amazon Rekognition and Comprehend.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84248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dual-layer design (visual + text sentiment) produces richer moderation decisions than single-service approaches.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4261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596896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codebase follows Separation of Concerns and Single Responsibility principles throughout all four modules.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00984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255264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is built in: IAM least-privilege roles, private S3 objects, no PII in audit logs, no hardcoded credentials.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5935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913632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threshold re-analysis feature (UC-03) saves cost by re-filtering cached results without re-calling AWS AI services.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 |  Group 5 — Jaykumar, Ryan, Nihethan, Izzet, Semaj  |  COMP 264 Winter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1077</Words>
  <Application>Microsoft Office PowerPoint</Application>
  <PresentationFormat>On-screen Show (16:9)</PresentationFormat>
  <Paragraphs>219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SafeView — Intelligent Image Content Moderation</dc:title>
  <dc:subject>PptxGenJS Presentation</dc:subject>
  <dc:creator>Group 5 — COMP 264</dc:creator>
  <cp:lastModifiedBy>Jaykumar Patel</cp:lastModifiedBy>
  <cp:revision>2</cp:revision>
  <dcterms:created xsi:type="dcterms:W3CDTF">2026-04-16T04:12:39Z</dcterms:created>
  <dcterms:modified xsi:type="dcterms:W3CDTF">2026-04-16T06:06:13Z</dcterms:modified>
</cp:coreProperties>
</file>